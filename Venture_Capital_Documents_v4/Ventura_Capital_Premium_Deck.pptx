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VENTURA CAPITAL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BF9000"/>
                </a:solidFill>
              </a:defRPr>
            </a:pPr>
            <a:r>
              <a:t>ARCHITECTING THE FUTURE OF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0"/>
            <a:ext cx="7315200" cy="45720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BF9000"/>
                </a:solidFill>
              </a:defRPr>
            </a:pPr>
            <a:r>
              <a:t>MARKET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</a:defRPr>
            </a:pPr>
            <a:r>
              <a:t>• AI is not a sector; it is the new electricity.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</a:defRPr>
            </a:pPr>
            <a:r>
              <a:t>• The 'Application Layer' will create $10T in value.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</a:defRPr>
            </a:pPr>
            <a:r>
              <a:t>• We invest in 'Unreproducible Advantages' (Moats).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</a:defRPr>
            </a:pPr>
            <a:r>
              <a:t>• Ventura Capital bridges the gap between Seed &amp; Scale.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BF9000"/>
                </a:solidFill>
              </a:defRPr>
            </a:pPr>
            <a:r>
              <a:t>THE PSYCHOLOGY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00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2000" b="1">
                <a:solidFill>
                  <a:srgbClr val="002060"/>
                </a:solidFill>
              </a:defRPr>
            </a:pPr>
            <a:r>
              <a:t>PRODUCT</a:t>
            </a:r>
          </a:p>
          <a:p>
            <a:pPr algn="ctr">
              <a:defRPr sz="1600">
                <a:solidFill>
                  <a:srgbClr val="646464"/>
                </a:solidFill>
              </a:defRPr>
            </a:pPr>
            <a:r>
              <a:t>The Moat</a:t>
            </a:r>
            <a:br/>
            <a:r>
              <a:t>(40%)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828800"/>
            <a:ext cx="3200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2000" b="1">
                <a:solidFill>
                  <a:srgbClr val="002060"/>
                </a:solidFill>
              </a:defRPr>
            </a:pPr>
            <a:r>
              <a:t>SALES</a:t>
            </a:r>
          </a:p>
          <a:p>
            <a:pPr algn="ctr">
              <a:defRPr sz="1600">
                <a:solidFill>
                  <a:srgbClr val="646464"/>
                </a:solidFill>
              </a:defRPr>
            </a:pPr>
            <a:r>
              <a:t>Growth Engine</a:t>
            </a:r>
            <a:br/>
            <a:r>
              <a:t>(35%)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3200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2000" b="1">
                <a:solidFill>
                  <a:srgbClr val="002060"/>
                </a:solidFill>
              </a:defRPr>
            </a:pPr>
            <a:r>
              <a:t>TEAM</a:t>
            </a:r>
          </a:p>
          <a:p>
            <a:pPr algn="ctr">
              <a:defRPr sz="1600">
                <a:solidFill>
                  <a:srgbClr val="646464"/>
                </a:solidFill>
              </a:defRPr>
            </a:pPr>
            <a:r>
              <a:t>Culture</a:t>
            </a:r>
            <a:br/>
            <a:r>
              <a:t>(20%)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4114800"/>
            <a:ext cx="3200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BF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2000" b="1">
                <a:solidFill>
                  <a:srgbClr val="002060"/>
                </a:solidFill>
              </a:defRPr>
            </a:pPr>
            <a:r>
              <a:t>OPS</a:t>
            </a:r>
          </a:p>
          <a:p>
            <a:pPr algn="ctr">
              <a:defRPr sz="1600">
                <a:solidFill>
                  <a:srgbClr val="646464"/>
                </a:solidFill>
              </a:defRPr>
            </a:pPr>
            <a:r>
              <a:t>Backbone</a:t>
            </a:r>
            <a:br/>
            <a:r>
              <a:t>(5%)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BF9000"/>
                </a:solidFill>
              </a:defRPr>
            </a:pPr>
            <a:r>
              <a:t>FUND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</a:defRPr>
            </a:pPr>
            <a:r>
              <a:t>• Fund Size: $100M Target / $10M Minimum GP Commit.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</a:defRPr>
            </a:pPr>
            <a:r>
              <a:t>• Term: 10 Years (5 Investment / 5 Harvest).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</a:defRPr>
            </a:pPr>
            <a:r>
              <a:t>• Management Fee: 2% / Carried Interest: 20%.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</a:defRPr>
            </a:pPr>
            <a:r>
              <a:t>• Hurdle Rate: 8% Preferred Return.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