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037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2880000"/>
            <a:ext cx="72000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VENTURA CAPITAL</a:t>
            </a:r>
            <a:br/>
            <a:r>
              <a:t>BRAND IDENTITY GUIDELINES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80000"/>
          </a:xfrm>
          <a:prstGeom prst="rect">
            <a:avLst/>
          </a:prstGeom>
          <a:solidFill>
            <a:srgbClr val="203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Our Core Values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1440000"/>
            <a:ext cx="792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1. Cultural Intelligence: We speak the local language, literally and figuratively.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1980000"/>
            <a:ext cx="792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2. Speed with Soul: Automation shouldn't feel robotic.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2520000"/>
            <a:ext cx="792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3. Latin Excellence: Showcasing world-class tech built in LATAM.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80000"/>
          </a:xfrm>
          <a:prstGeom prst="rect">
            <a:avLst/>
          </a:prstGeom>
          <a:solidFill>
            <a:srgbClr val="203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Typography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1440000"/>
            <a:ext cx="3600000" cy="36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Primary Font: INTER / HELVETICA NOW</a:t>
            </a:r>
          </a:p>
          <a:p>
            <a:pPr>
              <a:defRPr sz="1400"/>
            </a:pPr>
            <a:r>
              <a:t>Used for Headlines and UI elements.</a:t>
            </a:r>
            <a:br/>
            <a:r>
              <a:t>Clean, modern, highly readable.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80000"/>
          </a:xfrm>
          <a:prstGeom prst="rect">
            <a:avLst/>
          </a:prstGeom>
          <a:solidFill>
            <a:srgbClr val="203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Color Palette</a:t>
            </a:r>
          </a:p>
        </p:txBody>
      </p:sp>
      <p:sp>
        <p:nvSpPr>
          <p:cNvPr id="3" name="Rectangle 2"/>
          <p:cNvSpPr/>
          <p:nvPr/>
        </p:nvSpPr>
        <p:spPr>
          <a:xfrm>
            <a:off x="720000" y="1800000"/>
            <a:ext cx="1440000" cy="1440000"/>
          </a:xfrm>
          <a:prstGeom prst="rect">
            <a:avLst/>
          </a:prstGeom>
          <a:solidFill>
            <a:srgbClr val="203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3420000"/>
            <a:ext cx="144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t>Ventura Navy</a:t>
            </a:r>
            <a:br/>
            <a:r>
              <a:t>#203764</a:t>
            </a:r>
          </a:p>
        </p:txBody>
      </p:sp>
      <p:sp>
        <p:nvSpPr>
          <p:cNvPr id="5" name="Rectangle 4"/>
          <p:cNvSpPr/>
          <p:nvPr/>
        </p:nvSpPr>
        <p:spPr>
          <a:xfrm>
            <a:off x="2520000" y="1800000"/>
            <a:ext cx="1440000" cy="144000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20000" y="3420000"/>
            <a:ext cx="144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t>Growth Blue</a:t>
            </a:r>
            <a:br/>
            <a:r>
              <a:t>#2F75B5</a:t>
            </a:r>
          </a:p>
        </p:txBody>
      </p:sp>
      <p:sp>
        <p:nvSpPr>
          <p:cNvPr id="7" name="Rectangle 6"/>
          <p:cNvSpPr/>
          <p:nvPr/>
        </p:nvSpPr>
        <p:spPr>
          <a:xfrm>
            <a:off x="4320000" y="1800000"/>
            <a:ext cx="1440000" cy="1440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20000" y="3420000"/>
            <a:ext cx="144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t>Accent Gold</a:t>
            </a:r>
            <a:br/>
            <a:r>
              <a:t>#FFC000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0000" y="1800000"/>
            <a:ext cx="1440000" cy="144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0000" y="3420000"/>
            <a:ext cx="144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t>Light Gray</a:t>
            </a:r>
            <a:br/>
            <a:r>
              <a:t>#F2F2F2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80000"/>
          </a:xfrm>
          <a:prstGeom prst="rect">
            <a:avLst/>
          </a:prstGeom>
          <a:solidFill>
            <a:srgbClr val="203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Voice &amp; Tone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1440000"/>
            <a:ext cx="792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We sound: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1980000"/>
            <a:ext cx="792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• Professional but approachable (not stiff).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2520000"/>
            <a:ext cx="792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• Confident (we know the market).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" y="3060000"/>
            <a:ext cx="792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• Local (we use 'vos', 'tú', 'você' correctly).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0000" y="3600000"/>
            <a:ext cx="792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360000" y="4140000"/>
            <a:ext cx="792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We do NOT sound: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4680000"/>
            <a:ext cx="792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• Generic or 'Translated'.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0000" y="5220000"/>
            <a:ext cx="792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• Overly hype-y (no 'crypto-bro' slang).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