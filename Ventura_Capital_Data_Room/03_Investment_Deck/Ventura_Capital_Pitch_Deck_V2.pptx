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037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160000"/>
            <a:ext cx="72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5400">
                <a:solidFill>
                  <a:srgbClr val="FFFFFF"/>
                </a:solidFill>
              </a:defRPr>
            </a:pPr>
            <a:r>
              <a:t>VENTURA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240000"/>
            <a:ext cx="72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C000"/>
                </a:solidFill>
              </a:defRPr>
            </a:pPr>
            <a:r>
              <a:t>The First AI-Native Marketing Platform for LATAM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54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Series A Investment Opportunity</a:t>
            </a:r>
            <a:br/>
            <a:r>
              <a:t>December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20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424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8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Ventura Capital - Series A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440000"/>
            <a:ext cx="3600000" cy="3600000"/>
          </a:xfrm>
          <a:prstGeom prst="roundRect">
            <a:avLst/>
          </a:prstGeom>
          <a:solidFill>
            <a:srgbClr val="F2F2F2"/>
          </a:solidFill>
          <a:ln>
            <a:solidFill>
              <a:srgbClr val="20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/>
            </a:pPr>
            <a:r>
              <a:t>Current State</a:t>
            </a:r>
          </a:p>
          <a:p>
            <a:br/>
            <a:pPr algn="l">
              <a:defRPr sz="1600"/>
            </a:pPr>
            <a:r>
              <a:t>• Generic AI content (English translated)</a:t>
            </a:r>
            <a:br/>
            <a:r>
              <a:t>• Expensive Agencies ($5k+/mo)</a:t>
            </a:r>
            <a:br/>
            <a:r>
              <a:t>• Slow turnaround (Weeks)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0000" y="1440000"/>
            <a:ext cx="3600000" cy="3600000"/>
          </a:xfrm>
          <a:prstGeom prst="roundRect">
            <a:avLst/>
          </a:prstGeom>
          <a:solidFill>
            <a:srgbClr val="F2F2F2"/>
          </a:solidFill>
          <a:ln>
            <a:solidFill>
              <a:srgbClr val="20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/>
            </a:pPr>
            <a:r>
              <a:t>The Pain</a:t>
            </a:r>
          </a:p>
          <a:p>
            <a:br/>
            <a:pPr algn="l">
              <a:defRPr sz="1600"/>
            </a:pPr>
            <a:r>
              <a:t>• 40% Budget Waste</a:t>
            </a:r>
            <a:br/>
            <a:r>
              <a:t>• Low Conversion Rates</a:t>
            </a:r>
            <a:br/>
            <a:r>
              <a:t>• Brand Disconnection in LATAM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20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424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Our Secret Sauce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8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Ventura Capital - Series A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260000"/>
            <a:ext cx="792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/>
            </a:pPr>
            <a:r>
              <a:t>Proprietary 'Cultural-Aware' LLMs</a:t>
            </a:r>
          </a:p>
          <a:p>
            <a:pPr>
              <a:spcAft>
                <a:spcPts val="1400"/>
              </a:spcAft>
              <a:defRPr sz="1800"/>
            </a:pPr>
            <a:r>
              <a:t>• Trained on 50M+ high-converting LATAM ads</a:t>
            </a:r>
          </a:p>
          <a:p>
            <a:pPr>
              <a:spcAft>
                <a:spcPts val="1400"/>
              </a:spcAft>
              <a:defRPr sz="1800"/>
            </a:pPr>
            <a:r>
              <a:t>• Dialect-specific fine-tuning (MX, AR, CO, CL)</a:t>
            </a:r>
          </a:p>
          <a:p>
            <a:pPr>
              <a:spcAft>
                <a:spcPts val="1400"/>
              </a:spcAft>
              <a:defRPr sz="1800"/>
            </a:pPr>
            <a:r>
              <a:t>• Context-aware image generation (Local faces/places)</a:t>
            </a:r>
          </a:p>
          <a:p>
            <a:pPr>
              <a:spcAft>
                <a:spcPts val="1400"/>
              </a:spcAft>
              <a:defRPr sz="1800"/>
            </a:pPr>
          </a:p>
          <a:p>
            <a:pPr>
              <a:spcAft>
                <a:spcPts val="1400"/>
              </a:spcAft>
              <a:defRPr sz="1800"/>
            </a:pPr>
            <a:r>
              <a:t>Results:</a:t>
            </a:r>
          </a:p>
          <a:p>
            <a:pPr>
              <a:spcAft>
                <a:spcPts val="1400"/>
              </a:spcAft>
              <a:defRPr sz="1800"/>
            </a:pPr>
            <a:r>
              <a:t>• 3x Higher CTR than generic AI</a:t>
            </a:r>
          </a:p>
          <a:p>
            <a:pPr>
              <a:spcAft>
                <a:spcPts val="1400"/>
              </a:spcAft>
              <a:defRPr sz="1800"/>
            </a:pPr>
            <a:r>
              <a:t>• 90% Cost reduction vs Agencies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20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424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Why Now? The LATAM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8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Ventura Capital - Series A Deck</a:t>
            </a:r>
          </a:p>
        </p:txBody>
      </p:sp>
      <p:sp>
        <p:nvSpPr>
          <p:cNvPr id="5" name="Oval 4"/>
          <p:cNvSpPr/>
          <p:nvPr/>
        </p:nvSpPr>
        <p:spPr>
          <a:xfrm>
            <a:off x="1080000" y="1800000"/>
            <a:ext cx="1800000" cy="1800000"/>
          </a:xfrm>
          <a:prstGeom prst="ellipse">
            <a:avLst/>
          </a:prstGeom>
          <a:solidFill>
            <a:srgbClr val="2F75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/>
            </a:pPr>
            <a:r>
              <a:t>$2.8B</a:t>
            </a:r>
          </a:p>
          <a:p>
            <a: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0" y="1800000"/>
            <a:ext cx="792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/>
            </a:pPr>
            <a:r>
              <a:t>• Digital Ad Spend in LATAM growing at 15% CAGR</a:t>
            </a:r>
          </a:p>
          <a:p>
            <a:pPr>
              <a:spcAft>
                <a:spcPts val="1400"/>
              </a:spcAft>
              <a:defRPr sz="1800"/>
            </a:pPr>
            <a:r>
              <a:t>• E-commerce boom: 300M digital buyers</a:t>
            </a:r>
          </a:p>
          <a:p>
            <a:pPr>
              <a:spcAft>
                <a:spcPts val="1400"/>
              </a:spcAft>
              <a:defRPr sz="1800"/>
            </a:pPr>
            <a:r>
              <a:t>• No dominant local AI player yet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20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424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Traction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8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Ventura Capital - Series A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160000"/>
            <a:ext cx="1800000" cy="144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203764"/>
                </a:solidFill>
              </a:defRPr>
            </a:pPr>
            <a:r>
              <a:t>$139K</a:t>
            </a:r>
          </a:p>
          <a:p>
            <a:pPr algn="ctr">
              <a:defRPr sz="1400">
                <a:solidFill>
                  <a:srgbClr val="2F75B5"/>
                </a:solidFill>
              </a:defRPr>
            </a:pPr>
            <a:r>
              <a:t>ARR (Current)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00000" y="2160000"/>
            <a:ext cx="1800000" cy="144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203764"/>
                </a:solidFill>
              </a:defRPr>
            </a:pPr>
            <a:r>
              <a:t>20%</a:t>
            </a:r>
          </a:p>
          <a:p>
            <a:pPr algn="ctr">
              <a:defRPr sz="1400">
                <a:solidFill>
                  <a:srgbClr val="2F75B5"/>
                </a:solidFill>
              </a:defRPr>
            </a:pPr>
            <a:r>
              <a:t>MoM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4680000" y="2160000"/>
            <a:ext cx="1800000" cy="144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203764"/>
                </a:solidFill>
              </a:defRPr>
            </a:pPr>
            <a:r>
              <a:t>9:1</a:t>
            </a:r>
          </a:p>
          <a:p>
            <a:pPr algn="ctr">
              <a:defRPr sz="1400">
                <a:solidFill>
                  <a:srgbClr val="2F75B5"/>
                </a:solidFill>
              </a:defRPr>
            </a:pPr>
            <a:r>
              <a:t>LTV / CAC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0000" y="2160000"/>
            <a:ext cx="1800000" cy="144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203764"/>
                </a:solidFill>
              </a:defRPr>
            </a:pPr>
            <a:r>
              <a:t>500+</a:t>
            </a:r>
          </a:p>
          <a:p>
            <a:pPr algn="ctr">
              <a:defRPr sz="1400">
                <a:solidFill>
                  <a:srgbClr val="2F75B5"/>
                </a:solidFill>
              </a:defRPr>
            </a:pPr>
            <a:r>
              <a:t>Active Customers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20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424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Go-To-Market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8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Ventura Capital - Series A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260000"/>
            <a:ext cx="792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/>
            </a:pPr>
            <a:r>
              <a:t>1. Inbound / PLG (Product-Led Growth)</a:t>
            </a:r>
          </a:p>
          <a:p>
            <a:pPr>
              <a:spcAft>
                <a:spcPts val="1400"/>
              </a:spcAft>
              <a:defRPr sz="1800"/>
            </a:pPr>
            <a:r>
              <a:t>   • Free tier for Solopreneurs</a:t>
            </a:r>
          </a:p>
          <a:p>
            <a:pPr>
              <a:spcAft>
                <a:spcPts val="1400"/>
              </a:spcAft>
              <a:defRPr sz="1800"/>
            </a:pPr>
            <a:r>
              <a:t>   • Viral loops via 'Made with Ventura' watermarks</a:t>
            </a:r>
          </a:p>
          <a:p>
            <a:pPr>
              <a:spcAft>
                <a:spcPts val="1400"/>
              </a:spcAft>
              <a:defRPr sz="1800"/>
            </a:pPr>
          </a:p>
          <a:p>
            <a:pPr>
              <a:spcAft>
                <a:spcPts val="1400"/>
              </a:spcAft>
              <a:defRPr sz="1800"/>
            </a:pPr>
            <a:r>
              <a:t>2. Direct Sales (Mid-Market)</a:t>
            </a:r>
          </a:p>
          <a:p>
            <a:pPr>
              <a:spcAft>
                <a:spcPts val="1400"/>
              </a:spcAft>
              <a:defRPr sz="1800"/>
            </a:pPr>
            <a:r>
              <a:t>   • Target: Digital Agencies &amp; SME E-commerce</a:t>
            </a:r>
          </a:p>
          <a:p>
            <a:pPr>
              <a:spcAft>
                <a:spcPts val="1400"/>
              </a:spcAft>
              <a:defRPr sz="1800"/>
            </a:pPr>
            <a:r>
              <a:t>   • Value Prop: 'White-label AI for your agency'</a:t>
            </a:r>
          </a:p>
          <a:p>
            <a:pPr>
              <a:spcAft>
                <a:spcPts val="1400"/>
              </a:spcAft>
              <a:defRPr sz="1800"/>
            </a:pPr>
          </a:p>
          <a:p>
            <a:pPr>
              <a:spcAft>
                <a:spcPts val="1400"/>
              </a:spcAft>
              <a:defRPr sz="1800"/>
            </a:pPr>
            <a:r>
              <a:t>3. Channel Partnerships</a:t>
            </a:r>
          </a:p>
          <a:p>
            <a:pPr>
              <a:spcAft>
                <a:spcPts val="1400"/>
              </a:spcAft>
              <a:defRPr sz="1800"/>
            </a:pPr>
            <a:r>
              <a:t>   • Exclusive integration with TiendaNube &amp; MercadoShops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20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424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8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Ventura Capital - Series A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880000"/>
            <a:ext cx="7560000" cy="72000"/>
          </a:xfrm>
          <a:prstGeom prst="rect">
            <a:avLst/>
          </a:prstGeom>
          <a:solidFill>
            <a:srgbClr val="2037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0000" y="2736000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44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Q1 2025</a:t>
            </a:r>
          </a:p>
          <a:p>
            <a:r>
              <a:t>Series A Close</a:t>
            </a:r>
          </a:p>
          <a:p>
            <a:r>
              <a:t>Brazil Launch</a:t>
            </a:r>
          </a:p>
        </p:txBody>
      </p:sp>
      <p:sp>
        <p:nvSpPr>
          <p:cNvPr id="8" name="Oval 7"/>
          <p:cNvSpPr/>
          <p:nvPr/>
        </p:nvSpPr>
        <p:spPr>
          <a:xfrm>
            <a:off x="3600000" y="2736000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0000" y="3240000"/>
            <a:ext cx="144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Q2 2025</a:t>
            </a:r>
          </a:p>
          <a:p>
            <a:r>
              <a:t>Video Gen Alpha</a:t>
            </a:r>
          </a:p>
          <a:p>
            <a:r>
              <a:t>API Release</a:t>
            </a:r>
          </a:p>
        </p:txBody>
      </p:sp>
      <p:sp>
        <p:nvSpPr>
          <p:cNvPr id="10" name="Oval 9"/>
          <p:cNvSpPr/>
          <p:nvPr/>
        </p:nvSpPr>
        <p:spPr>
          <a:xfrm>
            <a:off x="6120000" y="2736000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0" y="3240000"/>
            <a:ext cx="144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Q4 2025</a:t>
            </a:r>
          </a:p>
          <a:p>
            <a:r>
              <a:t>Enterprise Shield</a:t>
            </a:r>
          </a:p>
          <a:p>
            <a:r>
              <a:t>$1.5M ARR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20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424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The Ask: Series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8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Ventura Capital - Series A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800000"/>
            <a:ext cx="2880000" cy="3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0" b="1">
                <a:solidFill>
                  <a:srgbClr val="FFC000"/>
                </a:solidFill>
              </a:defRPr>
            </a:pPr>
            <a:r>
              <a:t>$2.0M</a:t>
            </a:r>
          </a:p>
          <a:p>
            <a:pPr>
              <a:defRPr sz="2400">
                <a:solidFill>
                  <a:srgbClr val="203764"/>
                </a:solidFill>
              </a:defRPr>
            </a:pPr>
            <a:r>
              <a:t>Target Raise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0000" y="1800000"/>
            <a:ext cx="792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/>
            </a:pPr>
            <a:r>
              <a:t>Use of Proceeds:</a:t>
            </a:r>
          </a:p>
          <a:p>
            <a:pPr>
              <a:spcAft>
                <a:spcPts val="1400"/>
              </a:spcAft>
              <a:defRPr sz="1800"/>
            </a:pPr>
            <a:r>
              <a:t>• 40% Product (Gen-Video R&amp;D)</a:t>
            </a:r>
          </a:p>
          <a:p>
            <a:pPr>
              <a:spcAft>
                <a:spcPts val="1400"/>
              </a:spcAft>
              <a:defRPr sz="1800"/>
            </a:pPr>
            <a:r>
              <a:t>• 35% Growth (Brazil Expansion)</a:t>
            </a:r>
          </a:p>
          <a:p>
            <a:pPr>
              <a:spcAft>
                <a:spcPts val="1400"/>
              </a:spcAft>
              <a:defRPr sz="1800"/>
            </a:pPr>
            <a:r>
              <a:t>• 25% Key Hires (Head of Sales, VP Eng)</a:t>
            </a:r>
          </a:p>
          <a:p>
            <a:pPr>
              <a:spcAft>
                <a:spcPts val="1400"/>
              </a:spcAft>
              <a:defRPr sz="1800"/>
            </a:pPr>
          </a:p>
          <a:p>
            <a:pPr>
              <a:spcAft>
                <a:spcPts val="1400"/>
              </a:spcAft>
              <a:defRPr sz="1800"/>
            </a:pPr>
            <a:r>
              <a:t>Goal: Reach $3.6M ARR in 18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